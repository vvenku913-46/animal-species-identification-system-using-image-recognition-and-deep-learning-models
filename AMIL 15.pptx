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ist Thin"/>
      <p:regular r:id="rId201314"/>
    </p:embeddedFont>
    <p:embeddedFont>
      <p:font typeface="Geist ExtraLight"/>
      <p:regular r:id="rId201315"/>
    </p:embeddedFont>
    <p:embeddedFont>
      <p:font typeface="Geist Light"/>
      <p:regular r:id="rId201316"/>
    </p:embeddedFont>
    <p:embeddedFont>
      <p:font typeface="Geist Medium"/>
      <p:regular r:id="rId201317"/>
    </p:embeddedFont>
    <p:embeddedFont>
      <p:font typeface="Geist SemiBold"/>
      <p:regular r:id="rId201318"/>
    </p:embeddedFont>
    <p:embeddedFont>
      <p:font typeface="Geist Bold"/>
      <p:regular r:id="rId201319"/>
    </p:embeddedFont>
    <p:embeddedFont>
      <p:font typeface="Geist ExtraBold"/>
      <p:regular r:id="rId201320"/>
    </p:embeddedFont>
    <p:embeddedFont>
      <p:font typeface="Geist Black"/>
      <p:regular r:id="rId201321"/>
    </p:embeddedFont>
    <p:embeddedFont>
      <p:font typeface="Geist"/>
      <p:regular r:id="rId201322"/>
    </p:embeddedFont>
    <p:embeddedFont>
      <p:font typeface="Noto Serif Thin"/>
      <p:regular r:id="rId201323"/>
    </p:embeddedFont>
    <p:embeddedFont>
      <p:font typeface="Noto Serif ExtraLight"/>
      <p:regular r:id="rId201324"/>
    </p:embeddedFont>
    <p:embeddedFont>
      <p:font typeface="Noto Serif ExtraBold"/>
      <p:regular r:id="rId201325"/>
    </p:embeddedFont>
    <p:embeddedFont>
      <p:font typeface="Noto Serif Black"/>
      <p:regular r:id="rId201326"/>
    </p:embeddedFont>
    <p:embeddedFont>
      <p:font typeface="Noto Serif Light"/>
      <p:regular r:id="rId201327"/>
    </p:embeddedFont>
    <p:embeddedFont>
      <p:font typeface="Noto Serif"/>
      <p:regular r:id="rId201328"/>
    </p:embeddedFont>
    <p:embeddedFont>
      <p:font typeface="Noto Serif Medium"/>
      <p:regular r:id="rId201329"/>
    </p:embeddedFont>
    <p:embeddedFont>
      <p:font typeface="Noto Serif SemiBold"/>
      <p:regular r:id="rId201330"/>
    </p:embeddedFont>
    <p:embeddedFont>
      <p:font typeface="Noto Serif 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35173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Animal Species Identification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5030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Using Image Recognition and Deep Learning Models for automated, accurate wildlife classification — supporting conservation, research, and ecological monitoring at scale.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90218"/>
            <a:ext cx="1280592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32708"/>
            <a:ext cx="15676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ACADEMIC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3576414"/>
            <a:ext cx="3376613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0067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10174" y="3618905"/>
            <a:ext cx="36637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COMPUTER VISION · DEEP LEARNING · CONSERVATION TECH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350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Why Accurate Species Identification Matters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275904"/>
            <a:ext cx="4722763" cy="790649"/>
          </a:xfrm>
          <a:prstGeom prst="roundRect">
            <a:avLst>
              <a:gd name="adj" fmla="val 1286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3842" y="139362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Wildlife Conservation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3842" y="16240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 endangered populations and detect illegal poaching activity through automated monitoring.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2156520"/>
            <a:ext cx="4722763" cy="790649"/>
          </a:xfrm>
          <a:prstGeom prst="roundRect">
            <a:avLst>
              <a:gd name="adj" fmla="val 1286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3842" y="227424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Biodiversity Research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3842" y="250470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 species distribution across ecosystems to support ecological modeling and policy.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6119" y="3037136"/>
            <a:ext cx="4722763" cy="790649"/>
          </a:xfrm>
          <a:prstGeom prst="roundRect">
            <a:avLst>
              <a:gd name="adj" fmla="val 1286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3842" y="315485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Veterinary Services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3842" y="338531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Rapidly identify unknown specimens to guide diagnosis, treatment, and quarantine protocols.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6119" y="3917752"/>
            <a:ext cx="4722763" cy="790649"/>
          </a:xfrm>
          <a:prstGeom prst="roundRect">
            <a:avLst>
              <a:gd name="adj" fmla="val 1286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842" y="4035475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Environmental Protection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3842" y="426593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invasive species and habitat changes in near real-time for proactive intervention.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Limitations of Traditional Methods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9731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Core Challenges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49190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approaches rely on manual taxonomy, field observation, and expert review — processes that are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slow, expensive, and error-prone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60154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Requires scarce taxonomic expertise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Time-intensive field surveys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misidentification rates under poor conditions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Cannot scale to millions of camera-trap images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Appearance variation (age, sex, lighting) confounds manual classification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Architecture &amp; 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follows an end-to-end deep learning pipeline: uploaded images are preprocessed, passed through a CNN-based classifier, and returned with a predicted species label and confidence score.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807021"/>
            <a:ext cx="7272486" cy="3974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4731" y="2669080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Image Upload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49912" y="2643224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71232" y="2536870"/>
            <a:ext cx="168510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82084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stage is modular and independently testable, enabling iterative model improvement and deployment flexibility across cloud or edge environments.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Image Processing &amp; CNN Architecture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6375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Preprocessing Techniques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15629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Resize &amp; normalize pixel values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augmentation: flip, rotate, zoom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Background removal &amp; noise reduction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4528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Feature Extraction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897163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Transfer learning: ResNet50, VGG16, EfficientNet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 CNN for domain-specific features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Grad-CAM for interpretable saliency maps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Model Training, Validation &amp; Evaluation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Training Protocol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Models trained on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iNaturalist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Caltech-UCSD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datasets (500K+ labeled images across 10,000 species). Augmentation mitigates class imbalance.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6253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02575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Top-1 &amp; Top-5 Accuracy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Precision, Recall, F1-Score per class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Confusion matrix for error analysis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ROC-AUC for multi-class discrimination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64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Roles &amp; System Modules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2931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71775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Researchers &amp; Field Biologists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299743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 camera-trap images, receive instant species predictions with confidence scores, and export labeled datasets for analysis.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662931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717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Veterinarians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07828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unknown specimens, access species-specific health profiles, and generate clinical reports with prediction evidence.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662931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717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07828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 user access, monitor model performance dashboards, curate training datasets, and trigger retraining pipelines.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Database Design &amp; Security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40007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Data Entities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2546226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role-based authentication (JWT + OAuth2)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Images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metadata, upload timestamp, source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Predictions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species label, confidence, model version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Species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taxonomy, conservation status, references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training splits, labels, augmentation logs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4773290"/>
            <a:ext cx="8151763" cy="196155"/>
          </a:xfrm>
          <a:prstGeom prst="roundRect">
            <a:avLst>
              <a:gd name="adj" fmla="val 32523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861843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356" y="4826422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image data is encrypted at rest (AES-256) and in transit (TLS 1.3). Role-based access control (RBAC) ensures researchers only access authorized datasets.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8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Analytics Dashboard &amp; Reporting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83891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618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Dashboard Capabilities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29395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species detection counts by taxonomy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Geospatial heatmaps of observation locations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 drift monitoring &amp; retraining alerts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Exportable PDF reports with prediction evidence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Confidence distribution &amp; error rate trends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30346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Reporting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66667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weekly summaries for conservation stakeholders, including rare species alerts and population trend indicators.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14337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Outcomes, Applications &amp; Future Directions</a:t>
            </a:r>
            <a:endParaRPr lang="en-US" sz="2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93837"/>
            <a:ext cx="4722763" cy="848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4907" y="1425476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Expected Outcomes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84907" y="1667173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Top-1 accuracy &gt;90%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 benchmark datasets. Inference under 2 seconds per image on GPU-enabled servers.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239342"/>
            <a:ext cx="4722763" cy="848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4907" y="2370981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Real-World Applications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84907" y="2612678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Deployable in wildlife reserves, zoos, veterinary clinics, biodiversity surveys, and environmental NGOs for automated species monitoring.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184847"/>
            <a:ext cx="4722763" cy="848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4907" y="3316486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84907" y="3558183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Video-based tracking, multi-species detection in single frames, low-resource edge deployment, and integration with citizen science platforms like iNaturalist.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496119" y="4142482"/>
            <a:ext cx="4722763" cy="586606"/>
          </a:xfrm>
          <a:prstGeom prst="roundRect">
            <a:avLst>
              <a:gd name="adj" fmla="val 18012"/>
            </a:avLst>
          </a:prstGeom>
          <a:solidFill>
            <a:srgbClr val="CCFFE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70" y="4300761"/>
            <a:ext cx="146745" cy="1173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7565" y="4268986"/>
            <a:ext cx="422396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Advantage: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This system democratizes species identification — enabling non-experts to contribute high-quality data to global conservation efforts.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2026-07-28T05:40:28Z</dcterms:created>
  <dcterms:modified xsi:type="dcterms:W3CDTF">2026-07-28T05:40:28Z</dcterms:modified>
</cp:coreProperties>
</file>